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3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aanimesteamlit-k5wowxvwreqoaukveesmbw.streamlit.ap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taanimesteamlit-k5wowxvwreqoaukveesmbw.streamlit.app" TargetMode="External"/><Relationship Id="rId4" Type="http://schemas.openxmlformats.org/officeDocument/2006/relationships/hyperlink" Target="https://github.com/Zohair69/anime-analytics-2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pic>
        <p:nvPicPr>
          <p:cNvPr id="3" name="Image 0" descr="pptx_assets/halftone_white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046720" y="-1371600"/>
            <a:ext cx="6400800" cy="6400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3200400" cy="3840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960120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 ANALYTICS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descriptive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marché de l'anime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30 075 anime · MyAnimeList via Kaggle · 3 axes d'analyse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4297680" cy="502920"/>
          </a:xfrm>
          <a:prstGeom prst="rect">
            <a:avLst/>
          </a:prstGeom>
          <a:solidFill>
            <a:srgbClr val="1F1F1F"/>
          </a:solidFill>
          <a:ln w="1905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822960" y="4892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Zohair  ·  Loïc  ·  Brice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Data Analyst — Simplon Lyon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565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pic>
        <p:nvPicPr>
          <p:cNvPr id="3" name="Image 0" descr="pptx_assets/halftone_white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8412480" y="4297680"/>
            <a:ext cx="393192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822960" y="384048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équipe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611880" cy="5349240"/>
          </a:xfrm>
          <a:prstGeom prst="rect">
            <a:avLst/>
          </a:prstGeom>
          <a:solidFill>
            <a:srgbClr val="1B2B4D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1" descr="pptx_assets/avatar_zoh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1463040"/>
            <a:ext cx="2377440" cy="27340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01952" y="4114800"/>
            <a:ext cx="914400" cy="310896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 txBox="1"/>
          <p:nvPr/>
        </p:nvSpPr>
        <p:spPr>
          <a:xfrm>
            <a:off x="1901952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S · 01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526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Zohair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029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Cartographe du Marché »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1005840" y="5577840"/>
            <a:ext cx="269748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 txBox="1"/>
          <p:nvPr/>
        </p:nvSpPr>
        <p:spPr>
          <a:xfrm>
            <a:off x="731520" y="5715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 · Marché &amp; Formats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6080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Matplotlib · NumPy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43400" y="1234440"/>
            <a:ext cx="3611880" cy="5349240"/>
          </a:xfrm>
          <a:prstGeom prst="rect">
            <a:avLst/>
          </a:prstGeom>
          <a:solidFill>
            <a:srgbClr val="1B2B4D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ptx_assets/avatar_lo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1463040"/>
            <a:ext cx="2377440" cy="273405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696712" y="4114800"/>
            <a:ext cx="914400" cy="310896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 txBox="1"/>
          <p:nvPr/>
        </p:nvSpPr>
        <p:spPr>
          <a:xfrm>
            <a:off x="5696712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S · 02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343400" y="4526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Loïc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4526280" y="5029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Détective des Corrélations »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4800600" y="5577840"/>
            <a:ext cx="269748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 txBox="1"/>
          <p:nvPr/>
        </p:nvSpPr>
        <p:spPr>
          <a:xfrm>
            <a:off x="4526280" y="5715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 · Succès &amp; Popularité</a:t>
            </a:r>
            <a:endParaRPr lang="en-US" dirty="0"/>
          </a:p>
        </p:txBody>
      </p:sp>
      <p:sp>
        <p:nvSpPr>
          <p:cNvPr id="23" name="Text 18"/>
          <p:cNvSpPr txBox="1"/>
          <p:nvPr/>
        </p:nvSpPr>
        <p:spPr>
          <a:xfrm>
            <a:off x="4526280" y="6080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· Pandas · NumPy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138160" y="1234440"/>
            <a:ext cx="3611880" cy="5349240"/>
          </a:xfrm>
          <a:prstGeom prst="rect">
            <a:avLst/>
          </a:prstGeom>
          <a:solidFill>
            <a:srgbClr val="1B2B4D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3" descr="pptx_assets/avatar_br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9952" y="1463040"/>
            <a:ext cx="2377440" cy="273405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491472" y="4114800"/>
            <a:ext cx="914400" cy="310896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 txBox="1"/>
          <p:nvPr/>
        </p:nvSpPr>
        <p:spPr>
          <a:xfrm>
            <a:off x="9491472" y="4114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S · 03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8138160" y="4526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Brice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8321040" y="5029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Stratège des Studios »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8595360" y="5577840"/>
            <a:ext cx="269748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5"/>
          <p:cNvSpPr txBox="1"/>
          <p:nvPr/>
        </p:nvSpPr>
        <p:spPr>
          <a:xfrm>
            <a:off x="8321040" y="5715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3 · Genres &amp; Studios</a:t>
            </a:r>
            <a:endParaRPr lang="en-US" dirty="0"/>
          </a:p>
        </p:txBody>
      </p:sp>
      <p:sp>
        <p:nvSpPr>
          <p:cNvPr id="32" name="Text 26"/>
          <p:cNvSpPr txBox="1"/>
          <p:nvPr/>
        </p:nvSpPr>
        <p:spPr>
          <a:xfrm>
            <a:off x="8321040" y="6080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· Pandas · NumPy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anime-analytics-2026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822960" y="384048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du projet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31036" y="1783080"/>
            <a:ext cx="0" cy="1170432"/>
          </a:xfrm>
          <a:prstGeom prst="line">
            <a:avLst/>
          </a:prstGeom>
          <a:noFill/>
          <a:ln w="15875">
            <a:solidFill>
              <a:srgbClr val="B7BCC9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348740" y="287121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425196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30 075 lignes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doublons retirés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78708" y="4178808"/>
            <a:ext cx="0" cy="685800"/>
          </a:xfrm>
          <a:prstGeom prst="line">
            <a:avLst/>
          </a:prstGeom>
          <a:noFill/>
          <a:ln w="15875">
            <a:solidFill>
              <a:srgbClr val="B7BCC9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6412" y="409651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2372868" y="4892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Zohair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NumPy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26380" y="1783080"/>
            <a:ext cx="0" cy="1170432"/>
          </a:xfrm>
          <a:prstGeom prst="line">
            <a:avLst/>
          </a:prstGeom>
          <a:noFill/>
          <a:ln w="15875">
            <a:solidFill>
              <a:srgbClr val="B7BCC9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244084" y="287121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432054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Loïc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74052" y="4178808"/>
            <a:ext cx="0" cy="685800"/>
          </a:xfrm>
          <a:prstGeom prst="line">
            <a:avLst/>
          </a:prstGeom>
          <a:noFill/>
          <a:ln w="15875">
            <a:solidFill>
              <a:srgbClr val="B7BCC9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191756" y="409651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268212" y="4892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Brice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IQR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221724" y="1783080"/>
            <a:ext cx="0" cy="1170432"/>
          </a:xfrm>
          <a:prstGeom prst="line">
            <a:avLst/>
          </a:prstGeom>
          <a:noFill/>
          <a:ln w="15875">
            <a:solidFill>
              <a:srgbClr val="B7BCC9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9139428" y="287121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215884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2331720" cy="1005840"/>
          </a:xfrm>
          <a:prstGeom prst="chevron">
            <a:avLst/>
          </a:prstGeom>
          <a:solidFill>
            <a:srgbClr val="1622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594360" y="30632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04872" y="3063240"/>
            <a:ext cx="2331720" cy="1005840"/>
          </a:xfrm>
          <a:prstGeom prst="chevron">
            <a:avLst/>
          </a:prstGeom>
          <a:solidFill>
            <a:srgbClr val="FF6B1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2862072" y="30632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Formats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52544" y="3063240"/>
            <a:ext cx="2331720" cy="1005840"/>
          </a:xfrm>
          <a:prstGeom prst="chevron">
            <a:avLst/>
          </a:prstGeom>
          <a:solidFill>
            <a:srgbClr val="1622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4809744" y="30632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 &amp; Popularité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0216" y="3063240"/>
            <a:ext cx="2331720" cy="1005840"/>
          </a:xfrm>
          <a:prstGeom prst="chevron">
            <a:avLst/>
          </a:prstGeom>
          <a:solidFill>
            <a:srgbClr val="FF6B1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6757416" y="30632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3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&amp; Studios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47888" y="3063240"/>
            <a:ext cx="2331720" cy="1005840"/>
          </a:xfrm>
          <a:prstGeom prst="chevron">
            <a:avLst/>
          </a:prstGeom>
          <a:solidFill>
            <a:srgbClr val="1622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8705088" y="30632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5623560"/>
            <a:ext cx="11292840" cy="502920"/>
          </a:xfrm>
          <a:prstGeom prst="rect">
            <a:avLst/>
          </a:prstGeom>
          <a:solidFill>
            <a:srgbClr val="F2F5FB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 txBox="1"/>
          <p:nvPr/>
        </p:nvSpPr>
        <p:spPr>
          <a:xfrm>
            <a:off x="685800" y="562356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étapes, du nettoyage des données brutes jusqu'au dashboard interactif en ligne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anime-analytics-2026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822960" y="384048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dataset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06040" cy="1371600"/>
          </a:xfrm>
          <a:prstGeom prst="rect">
            <a:avLst/>
          </a:prstGeom>
          <a:solidFill>
            <a:srgbClr val="F2F5FB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30 075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référencés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606040" cy="1371600"/>
          </a:xfrm>
          <a:prstGeom prst="rect">
            <a:avLst/>
          </a:prstGeom>
          <a:solidFill>
            <a:srgbClr val="F2F5FB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33756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d'origine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2606040" cy="1371600"/>
          </a:xfrm>
          <a:prstGeom prst="rect">
            <a:avLst/>
          </a:prstGeom>
          <a:solidFill>
            <a:srgbClr val="F2F5FB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12648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supprimés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15400" y="1508760"/>
            <a:ext cx="2606040" cy="1371600"/>
          </a:xfrm>
          <a:prstGeom prst="rect">
            <a:avLst/>
          </a:prstGeom>
          <a:solidFill>
            <a:srgbClr val="F2F5FB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915400" y="16002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286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d'analyse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0332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Dresser un portrait chiffré du marché de </a:t>
            </a:r>
            <a:r>
              <a:rPr lang="en-US" dirty="0" err="1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l'anime</a:t>
            </a:r>
            <a:r>
              <a:rPr lang="en-US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formats, évolution dans le temps, facteurs de succès, performance des studios à partir du dataset Kaggle « Anime &amp; Manga Analytics Dataset (2026) », alimenté via l'API Jikan de MyAnimeList.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818120" y="3291840"/>
            <a:ext cx="3840480" cy="2788920"/>
          </a:xfrm>
          <a:prstGeom prst="rect">
            <a:avLst/>
          </a:prstGeom>
          <a:solidFill>
            <a:srgbClr val="16223D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0924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du travail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023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Zohair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4572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Loïc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5120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3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Brice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anime-analytics-2026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822960" y="384048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axes, un marché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Préambule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118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11880" cy="822960"/>
          </a:xfrm>
          <a:prstGeom prst="rect">
            <a:avLst/>
          </a:prstGeom>
          <a:solidFill>
            <a:srgbClr val="16223D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7724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Zohair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 &amp; Formats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visage général du catalogue ? Formats, évolution dans le temps, notes et durées.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6118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611880" cy="822960"/>
          </a:xfrm>
          <a:prstGeom prst="rect">
            <a:avLst/>
          </a:prstGeom>
          <a:solidFill>
            <a:srgbClr val="16223D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457200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Loïc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Succès &amp; Popularité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52044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distingue un anime qui réussit ? Corrélations, source d'origine, classement.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6118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138160" y="1554480"/>
            <a:ext cx="3611880" cy="822960"/>
          </a:xfrm>
          <a:prstGeom prst="rect">
            <a:avLst/>
          </a:prstGeom>
          <a:solidFill>
            <a:srgbClr val="16223D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36676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2606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Genres, Studios &amp; Producteurs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52044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domine le marché, et avec quelle régularité ? Genres, studios, combinaisons gagnantes.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anime-analytics-2026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pic>
        <p:nvPicPr>
          <p:cNvPr id="3" name="Image 0" descr="pptx_assets/halftone_white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503920" y="4206240"/>
            <a:ext cx="41148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-2100000">
            <a:off x="9509760" y="1188720"/>
            <a:ext cx="1463040" cy="411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 rot="-2100000">
            <a:off x="9829800" y="1051560"/>
            <a:ext cx="1188720" cy="411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 rot="-2100000">
            <a:off x="10149840" y="914400"/>
            <a:ext cx="1737360" cy="411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 rot="-2100000">
            <a:off x="10469880" y="1097280"/>
            <a:ext cx="1005840" cy="411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 rot="-2100000">
            <a:off x="9646920" y="1508760"/>
            <a:ext cx="1097280" cy="411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 rot="-2100000">
            <a:off x="10012680" y="1325880"/>
            <a:ext cx="1554480" cy="411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 rot="-2100000">
            <a:off x="10332720" y="1554480"/>
            <a:ext cx="914400" cy="411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822960" y="1371600"/>
            <a:ext cx="2834640" cy="38404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960120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DIRECT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Retrouvez tous nos graphiques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le dashboard Streamlit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822960" y="3794760"/>
            <a:ext cx="9966960" cy="960120"/>
          </a:xfrm>
          <a:prstGeom prst="rect">
            <a:avLst/>
          </a:prstGeom>
          <a:solidFill>
            <a:srgbClr val="1F1F1F"/>
          </a:solidFill>
          <a:ln w="254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>
            <a:hlinkClick r:id="rId4"/>
          </p:cNvPr>
          <p:cNvSpPr txBox="1"/>
          <p:nvPr/>
        </p:nvSpPr>
        <p:spPr>
          <a:xfrm>
            <a:off x="1097280" y="37947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u="sng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https://dataanimesteamlit-k5wowxvwreqoaukveesmbw.streamlit.app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822960" y="384048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— Axe 1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Formats  ·  Zohair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960" y="183565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822960" y="183565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600200"/>
            <a:ext cx="9692640" cy="4896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Diversifier au-delà du format TV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091690"/>
            <a:ext cx="96926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domine (8 633 anime) mais Music, ONA, OVA pèsent presque autant. Une stratégie mono-format laisserait de côté plus de la moitié du catalogue.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674620"/>
            <a:ext cx="10515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22960" y="300151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300151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727265"/>
            <a:ext cx="9692640" cy="4896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un marché stable, pas en croissance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257550"/>
            <a:ext cx="96926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production s'est stabilisée depuis 2015 (1 200 à 1 270/an). Toute hypothèse de croissance continue est à vérifier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840480"/>
            <a:ext cx="10515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22960" y="416737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22960" y="416737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887115"/>
            <a:ext cx="9692640" cy="4896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privilégie les formats courts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423410"/>
            <a:ext cx="96926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moitié des anime ont 2 épisodes ou moins — la production rapide domine sur les séries longues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006340"/>
            <a:ext cx="10515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22960" y="533323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822960" y="533323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5017443"/>
            <a:ext cx="9692640" cy="4896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 avec la médiane, pas la moyenne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5550748"/>
            <a:ext cx="969264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poignée de séries exceptionnelles (&lt; 1%, ex. Doraemon) fausse la moyenne des épisodes. La médiane (2) reflète mieux le marché réel.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anime-analytics-2026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822960" y="384048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— Axe 2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 &amp; Popularité  ·  Loïc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822960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621231"/>
            <a:ext cx="96926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confondre popularité et qualité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286000"/>
            <a:ext cx="96926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L'engagement du public (membres, votes) suit surtout le classement, pas la note. Une mise en avant basée uniquement sur le volume risque de mal représenter la qualité réelle.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10515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142942"/>
            <a:ext cx="96926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les adaptations de supports écrits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40480"/>
            <a:ext cx="96926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novel (7,21) et manga devancent légèrement les scénarios originaux (6,09) — un matériau déjà éprouvé reste un léger gage de qualité.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22960" y="513892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2296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573063"/>
            <a:ext cx="96926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confiance au </a:t>
            </a:r>
            <a:r>
              <a:rPr lang="en-US" sz="2800" b="1" dirty="0" err="1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</a:t>
            </a: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</a:t>
            </a: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popularité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394960"/>
            <a:ext cx="96926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relation est nette et progressive, sans rupture entre catégories : un argument fiable pour prioriser la mise en avant d'un titre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anime-analytics-2026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46304" cy="56692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822960" y="384048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— Axe 3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Genres, Studios &amp; Producteurs  ·  Brice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822960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673352"/>
            <a:ext cx="96926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volume ne fait pas la qualité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286000"/>
            <a:ext cx="96926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domine en nombre d'anime produits (7 939) mais n'est pas le genre le mieux noté. Miser sur la popularité d'un genre ne garantit pas un bon accueil critique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10515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22960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27832"/>
            <a:ext cx="96926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les combinaisons studio × genre gagnantes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40480"/>
            <a:ext cx="96926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couples affichent un score bien au-dessus du </a:t>
            </a:r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22960" y="5138928"/>
            <a:ext cx="512064" cy="51206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2296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82312"/>
            <a:ext cx="9692640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6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Miser sur la régularité plutôt que le coup d'éclat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394960"/>
            <a:ext cx="969264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Deen n'a aucun succès « exceptionnel » isolé (méthode IQR), signe d'une </a:t>
            </a:r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un vrai critère de fiabilité pour un partenariat studio.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anime-analytics-2026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76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pic>
        <p:nvPicPr>
          <p:cNvPr id="3" name="Image 0" descr="pptx_assets/halftone_white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229600" y="-1463040"/>
            <a:ext cx="493776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48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&amp; liens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1673352"/>
            <a:ext cx="320040" cy="32004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132588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stable, diversifié au-delà de la TV, porté par des formats courts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822960" y="2267712"/>
            <a:ext cx="320040" cy="32004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1325880" y="2194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L'engagement du public suit le classement, mais pas directement la note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822960" y="2862072"/>
            <a:ext cx="320040" cy="32004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1325880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studios (dont Studio Deen) affichent une vraie régularité qualité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22960" y="3794760"/>
            <a:ext cx="5074920" cy="1920240"/>
          </a:xfrm>
          <a:prstGeom prst="rect">
            <a:avLst/>
          </a:prstGeom>
          <a:solidFill>
            <a:srgbClr val="1F1F1F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</a:t>
            </a:r>
            <a:endParaRPr lang="en-US" sz="3200" dirty="0"/>
          </a:p>
        </p:txBody>
      </p:sp>
      <p:sp>
        <p:nvSpPr>
          <p:cNvPr id="13" name="Text 10">
            <a:hlinkClick r:id="rId4"/>
          </p:cNvPr>
          <p:cNvSpPr txBox="1"/>
          <p:nvPr/>
        </p:nvSpPr>
        <p:spPr>
          <a:xfrm>
            <a:off x="1097280" y="4434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github.com/Zohair69/anime-analytics-2026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fusionné · 3 axes · app.py Streamlit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3794760"/>
            <a:ext cx="5074920" cy="1920240"/>
          </a:xfrm>
          <a:prstGeom prst="rect">
            <a:avLst/>
          </a:prstGeom>
          <a:solidFill>
            <a:srgbClr val="FF6B1A"/>
          </a:solidFill>
          <a:ln w="25400">
            <a:solidFill>
              <a:srgbClr val="1622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 txBox="1"/>
          <p:nvPr/>
        </p:nvSpPr>
        <p:spPr>
          <a:xfrm>
            <a:off x="653796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direct</a:t>
            </a:r>
            <a:endParaRPr lang="en-US" sz="3200" dirty="0"/>
          </a:p>
        </p:txBody>
      </p:sp>
      <p:sp>
        <p:nvSpPr>
          <p:cNvPr id="17" name="Text 14">
            <a:hlinkClick r:id="rId5"/>
          </p:cNvPr>
          <p:cNvSpPr txBox="1"/>
          <p:nvPr/>
        </p:nvSpPr>
        <p:spPr>
          <a:xfrm>
            <a:off x="6537960" y="4434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dataanimesteamlit-k5wowxvwreqoaukveesmbw.streamlit.app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807</Words>
  <Application>Microsoft Office PowerPoint</Application>
  <PresentationFormat>Grand écran</PresentationFormat>
  <Paragraphs>153</Paragraphs>
  <Slides>10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&amp; Manga Analytics Dataset (2026)</dc:title>
  <dc:subject>Analyse descriptive du marché de l'anime</dc:subject>
  <dc:creator>Zohair, Loïc, Brice</dc:creator>
  <cp:lastModifiedBy>Zohair NAZHAOUI</cp:lastModifiedBy>
  <cp:revision>15</cp:revision>
  <dcterms:created xsi:type="dcterms:W3CDTF">2026-09-02T11:52:15Z</dcterms:created>
  <dcterms:modified xsi:type="dcterms:W3CDTF">2026-09-04T09:43:48Z</dcterms:modified>
</cp:coreProperties>
</file>